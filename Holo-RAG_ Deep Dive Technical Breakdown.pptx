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62000" y="1857375"/>
            <a:ext cx="7620000" cy="190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14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Holo-RAG: Deep Dive Technical Breakdown</a:t>
            </a:r>
            <a:endParaRPr lang="en-US" sz="3214" dirty="0"/>
          </a:p>
        </p:txBody>
      </p:sp>
      <p:sp>
        <p:nvSpPr>
          <p:cNvPr id="3" name="StaticPath"/>
          <p:cNvSpPr/>
          <p:nvPr/>
        </p:nvSpPr>
        <p:spPr>
          <a:xfrm>
            <a:off x="1664875" y="3228975"/>
            <a:ext cx="371475" cy="37147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" name="StaticPath"/>
          <p:cNvSpPr/>
          <p:nvPr/>
        </p:nvSpPr>
        <p:spPr>
          <a:xfrm>
            <a:off x="2095976" y="3229928"/>
            <a:ext cx="371475" cy="371475"/>
          </a:xfrm>
          <a:prstGeom prst="ellipse">
            <a:avLst/>
          </a:prstGeom>
          <a:solidFill>
            <a:srgbClr val="404040"/>
          </a:solidFill>
          <a:ln/>
        </p:spPr>
      </p:sp>
      <p:sp>
        <p:nvSpPr>
          <p:cNvPr id="5" name="StaticPath"/>
          <p:cNvSpPr/>
          <p:nvPr/>
        </p:nvSpPr>
        <p:spPr>
          <a:xfrm>
            <a:off x="2520696" y="3229928"/>
            <a:ext cx="371475" cy="37147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StaticPath"/>
          <p:cNvSpPr/>
          <p:nvPr/>
        </p:nvSpPr>
        <p:spPr>
          <a:xfrm rot="1438200">
            <a:off x="954334" y="-891622"/>
            <a:ext cx="1543050" cy="1543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StaticPath"/>
          <p:cNvSpPr/>
          <p:nvPr/>
        </p:nvSpPr>
        <p:spPr>
          <a:xfrm rot="18497400">
            <a:off x="7552059" y="4167658"/>
            <a:ext cx="1797368" cy="17973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StaticPath"/>
          <p:cNvSpPr/>
          <p:nvPr/>
        </p:nvSpPr>
        <p:spPr>
          <a:xfrm>
            <a:off x="6695456" y="547783"/>
            <a:ext cx="3366135" cy="460058"/>
          </a:xfrm>
          <a:prstGeom prst="rect">
            <a:avLst/>
          </a:prstGeom>
          <a:solidFill>
            <a:srgbClr val="787777"/>
          </a:solidFill>
          <a:ln/>
        </p:spPr>
      </p:sp>
      <p:sp>
        <p:nvSpPr>
          <p:cNvPr id="9" name="StaticPath"/>
          <p:cNvSpPr/>
          <p:nvPr/>
        </p:nvSpPr>
        <p:spPr>
          <a:xfrm>
            <a:off x="6422946" y="547068"/>
            <a:ext cx="465772" cy="465773"/>
          </a:xfrm>
          <a:prstGeom prst="ellipse">
            <a:avLst/>
          </a:prstGeom>
          <a:solidFill>
            <a:srgbClr val="404040"/>
          </a:solidFill>
          <a:ln/>
        </p:spPr>
      </p:sp>
      <p:sp>
        <p:nvSpPr>
          <p:cNvPr id="10" name="StaticPath"/>
          <p:cNvSpPr/>
          <p:nvPr/>
        </p:nvSpPr>
        <p:spPr>
          <a:xfrm>
            <a:off x="-1283684" y="4361545"/>
            <a:ext cx="3366135" cy="460058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1" name="StaticPath"/>
          <p:cNvSpPr/>
          <p:nvPr/>
        </p:nvSpPr>
        <p:spPr>
          <a:xfrm>
            <a:off x="1786938" y="4358831"/>
            <a:ext cx="465772" cy="465773"/>
          </a:xfrm>
          <a:prstGeom prst="ellipse">
            <a:avLst/>
          </a:prstGeom>
          <a:solidFill>
            <a:srgbClr val="78777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095625" y="238125"/>
            <a:ext cx="5238750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8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Introduction: Understanding the Phase Problem</a:t>
            </a:r>
            <a:endParaRPr lang="en-US" sz="1789" dirty="0"/>
          </a:p>
        </p:txBody>
      </p:sp>
      <p:sp>
        <p:nvSpPr>
          <p:cNvPr id="3" name="Subtitle 1"/>
          <p:cNvSpPr/>
          <p:nvPr/>
        </p:nvSpPr>
        <p:spPr>
          <a:xfrm>
            <a:off x="309562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89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What is Holography?</a:t>
            </a:r>
            <a:endParaRPr lang="en-US" sz="1489" dirty="0"/>
          </a:p>
        </p:txBody>
      </p:sp>
      <p:sp>
        <p:nvSpPr>
          <p:cNvPr id="4" name="Paragraph 1"/>
          <p:cNvSpPr/>
          <p:nvPr/>
        </p:nvSpPr>
        <p:spPr>
          <a:xfrm>
            <a:off x="309562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28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Holography captures both intensity and phase information of light, unlike conventional imaging that only records intensity.</a:t>
            </a:r>
            <a:endParaRPr lang="en-US" sz="1328" dirty="0"/>
          </a:p>
        </p:txBody>
      </p:sp>
      <p:sp>
        <p:nvSpPr>
          <p:cNvPr id="5" name="Subtitle 2"/>
          <p:cNvSpPr/>
          <p:nvPr/>
        </p:nvSpPr>
        <p:spPr>
          <a:xfrm>
            <a:off x="3095625" y="22860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89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The Phase Problem</a:t>
            </a:r>
            <a:endParaRPr lang="en-US" sz="1489" dirty="0"/>
          </a:p>
        </p:txBody>
      </p:sp>
      <p:sp>
        <p:nvSpPr>
          <p:cNvPr id="6" name="Paragraph 2"/>
          <p:cNvSpPr/>
          <p:nvPr/>
        </p:nvSpPr>
        <p:spPr>
          <a:xfrm>
            <a:off x="3095625" y="26670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28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Without phase data, we lose depth and structure—producing fuzzy, incomplete images at microscopic scales.</a:t>
            </a:r>
            <a:endParaRPr lang="en-US" sz="1328" dirty="0"/>
          </a:p>
        </p:txBody>
      </p:sp>
      <p:sp>
        <p:nvSpPr>
          <p:cNvPr id="7" name="Subtitle 3"/>
          <p:cNvSpPr/>
          <p:nvPr/>
        </p:nvSpPr>
        <p:spPr>
          <a:xfrm>
            <a:off x="3095625" y="338137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89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Why AI Matters</a:t>
            </a:r>
            <a:endParaRPr lang="en-US" sz="1489" dirty="0"/>
          </a:p>
        </p:txBody>
      </p:sp>
      <p:sp>
        <p:nvSpPr>
          <p:cNvPr id="8" name="Paragraph 3"/>
          <p:cNvSpPr/>
          <p:nvPr/>
        </p:nvSpPr>
        <p:spPr>
          <a:xfrm>
            <a:off x="3095625" y="376237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28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By learning the hidden relationship between intensity and phase, AI can recover the full holographic reality from incomplete signals.</a:t>
            </a:r>
            <a:endParaRPr lang="en-US" sz="1328" dirty="0"/>
          </a:p>
        </p:txBody>
      </p:sp>
      <p:sp>
        <p:nvSpPr>
          <p:cNvPr id="9" name="Circle 1"/>
          <p:cNvSpPr/>
          <p:nvPr/>
        </p:nvSpPr>
        <p:spPr>
          <a:xfrm>
            <a:off x="7143750" y="4524375"/>
            <a:ext cx="285750" cy="2857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" name="Circle 2"/>
          <p:cNvSpPr/>
          <p:nvPr/>
        </p:nvSpPr>
        <p:spPr>
          <a:xfrm>
            <a:off x="7477125" y="4524375"/>
            <a:ext cx="285750" cy="2857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Circle 3"/>
          <p:cNvSpPr/>
          <p:nvPr/>
        </p:nvSpPr>
        <p:spPr>
          <a:xfrm>
            <a:off x="7810500" y="4524375"/>
            <a:ext cx="285750" cy="2857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StaticPath"/>
          <p:cNvSpPr/>
          <p:nvPr/>
        </p:nvSpPr>
        <p:spPr>
          <a:xfrm>
            <a:off x="8572500" y="4033647"/>
            <a:ext cx="371475" cy="114300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3" name="StaticPath"/>
          <p:cNvSpPr/>
          <p:nvPr/>
        </p:nvSpPr>
        <p:spPr>
          <a:xfrm>
            <a:off x="8572500" y="3842290"/>
            <a:ext cx="368618" cy="368618"/>
          </a:xfrm>
          <a:prstGeom prst="ellipse">
            <a:avLst/>
          </a:prstGeom>
          <a:solidFill>
            <a:srgbClr val="787777"/>
          </a:solidFill>
          <a:ln/>
        </p:spPr>
      </p:sp>
      <p:sp>
        <p:nvSpPr>
          <p:cNvPr id="14" name="StaticPath"/>
          <p:cNvSpPr/>
          <p:nvPr/>
        </p:nvSpPr>
        <p:spPr>
          <a:xfrm rot="1993200">
            <a:off x="8740836" y="915788"/>
            <a:ext cx="1143000" cy="1143000"/>
          </a:xfrm>
          <a:prstGeom prst="rect">
            <a:avLst/>
          </a:prstGeom>
          <a:solidFill>
            <a:srgbClr val="787777"/>
          </a:solidFill>
          <a:ln/>
        </p:spPr>
      </p:sp>
      <p:sp>
        <p:nvSpPr>
          <p:cNvPr id="15" name="StaticPath"/>
          <p:cNvSpPr/>
          <p:nvPr/>
        </p:nvSpPr>
        <p:spPr>
          <a:xfrm rot="1638000">
            <a:off x="1102977" y="4700502"/>
            <a:ext cx="1143000" cy="11430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6" name="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125" y="1333500"/>
            <a:ext cx="2352675" cy="23526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095625" y="238125"/>
            <a:ext cx="5238750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Theory and Data Simulation</a:t>
            </a:r>
            <a:endParaRPr lang="en-US" sz="2167" dirty="0"/>
          </a:p>
        </p:txBody>
      </p:sp>
      <p:sp>
        <p:nvSpPr>
          <p:cNvPr id="3" name="Subtitle 1"/>
          <p:cNvSpPr/>
          <p:nvPr/>
        </p:nvSpPr>
        <p:spPr>
          <a:xfrm>
            <a:off x="309562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35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Simulating Diffraction</a:t>
            </a:r>
            <a:endParaRPr lang="en-US" sz="1335" dirty="0"/>
          </a:p>
        </p:txBody>
      </p:sp>
      <p:sp>
        <p:nvSpPr>
          <p:cNvPr id="4" name="Paragraph 1"/>
          <p:cNvSpPr/>
          <p:nvPr/>
        </p:nvSpPr>
        <p:spPr>
          <a:xfrm>
            <a:off x="309562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Using TensorFlow’s fft2d, Holo-RAG models diffraction patterns—the physics of light interference on the sensor.</a:t>
            </a:r>
            <a:endParaRPr lang="en-US" sz="1350" dirty="0"/>
          </a:p>
        </p:txBody>
      </p:sp>
      <p:sp>
        <p:nvSpPr>
          <p:cNvPr id="5" name="Subtitle 2"/>
          <p:cNvSpPr/>
          <p:nvPr/>
        </p:nvSpPr>
        <p:spPr>
          <a:xfrm>
            <a:off x="3095625" y="22860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35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Adding Realism with Noise</a:t>
            </a:r>
            <a:endParaRPr lang="en-US" sz="1335" dirty="0"/>
          </a:p>
        </p:txBody>
      </p:sp>
      <p:sp>
        <p:nvSpPr>
          <p:cNvPr id="6" name="Paragraph 2"/>
          <p:cNvSpPr/>
          <p:nvPr/>
        </p:nvSpPr>
        <p:spPr>
          <a:xfrm>
            <a:off x="3095625" y="26670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By injecting sensor_noise, the data better mimics actual lab conditions, improving the model’s generalization.</a:t>
            </a:r>
            <a:endParaRPr lang="en-US" sz="1350" dirty="0"/>
          </a:p>
        </p:txBody>
      </p:sp>
      <p:sp>
        <p:nvSpPr>
          <p:cNvPr id="7" name="Subtitle 3"/>
          <p:cNvSpPr/>
          <p:nvPr/>
        </p:nvSpPr>
        <p:spPr>
          <a:xfrm>
            <a:off x="3095625" y="338137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35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From Synthetic to Real</a:t>
            </a:r>
            <a:endParaRPr lang="en-US" sz="1335" dirty="0"/>
          </a:p>
        </p:txBody>
      </p:sp>
      <p:sp>
        <p:nvSpPr>
          <p:cNvPr id="8" name="Paragraph 3"/>
          <p:cNvSpPr/>
          <p:nvPr/>
        </p:nvSpPr>
        <p:spPr>
          <a:xfrm>
            <a:off x="3095625" y="376237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This synthetic data pipeline allows pretraining on physically accurate holograms before fine-tuning on real experimental data.</a:t>
            </a:r>
            <a:endParaRPr lang="en-US" sz="1350" dirty="0"/>
          </a:p>
        </p:txBody>
      </p:sp>
      <p:sp>
        <p:nvSpPr>
          <p:cNvPr id="9" name="Circle 1"/>
          <p:cNvSpPr/>
          <p:nvPr/>
        </p:nvSpPr>
        <p:spPr>
          <a:xfrm>
            <a:off x="7143750" y="4524375"/>
            <a:ext cx="285750" cy="2857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" name="Circle 2"/>
          <p:cNvSpPr/>
          <p:nvPr/>
        </p:nvSpPr>
        <p:spPr>
          <a:xfrm>
            <a:off x="7477125" y="4524375"/>
            <a:ext cx="285750" cy="2857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Circle 3"/>
          <p:cNvSpPr/>
          <p:nvPr/>
        </p:nvSpPr>
        <p:spPr>
          <a:xfrm>
            <a:off x="7810500" y="4524375"/>
            <a:ext cx="285750" cy="2857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StaticPath"/>
          <p:cNvSpPr/>
          <p:nvPr/>
        </p:nvSpPr>
        <p:spPr>
          <a:xfrm>
            <a:off x="8572500" y="4033647"/>
            <a:ext cx="371475" cy="114300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3" name="StaticPath"/>
          <p:cNvSpPr/>
          <p:nvPr/>
        </p:nvSpPr>
        <p:spPr>
          <a:xfrm>
            <a:off x="8572500" y="3842290"/>
            <a:ext cx="368618" cy="368618"/>
          </a:xfrm>
          <a:prstGeom prst="ellipse">
            <a:avLst/>
          </a:prstGeom>
          <a:solidFill>
            <a:srgbClr val="787777"/>
          </a:solidFill>
          <a:ln/>
        </p:spPr>
      </p:sp>
      <p:sp>
        <p:nvSpPr>
          <p:cNvPr id="14" name="StaticPath"/>
          <p:cNvSpPr/>
          <p:nvPr/>
        </p:nvSpPr>
        <p:spPr>
          <a:xfrm rot="1993200">
            <a:off x="8740836" y="915788"/>
            <a:ext cx="1143000" cy="1143000"/>
          </a:xfrm>
          <a:prstGeom prst="rect">
            <a:avLst/>
          </a:prstGeom>
          <a:solidFill>
            <a:srgbClr val="787777"/>
          </a:solidFill>
          <a:ln/>
        </p:spPr>
      </p:sp>
      <p:sp>
        <p:nvSpPr>
          <p:cNvPr id="15" name="StaticPath"/>
          <p:cNvSpPr/>
          <p:nvPr/>
        </p:nvSpPr>
        <p:spPr>
          <a:xfrm rot="1638000">
            <a:off x="1102977" y="4700502"/>
            <a:ext cx="1143000" cy="11430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6" name="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125" y="1333500"/>
            <a:ext cx="2352675" cy="23526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095625" y="238125"/>
            <a:ext cx="5238750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33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The Architecture: U-Net for Holographic Reconstruction</a:t>
            </a:r>
            <a:endParaRPr lang="en-US" sz="1633" dirty="0"/>
          </a:p>
        </p:txBody>
      </p:sp>
      <p:sp>
        <p:nvSpPr>
          <p:cNvPr id="3" name="Subtitle 1"/>
          <p:cNvSpPr/>
          <p:nvPr/>
        </p:nvSpPr>
        <p:spPr>
          <a:xfrm>
            <a:off x="309562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Why U-Net?</a:t>
            </a:r>
            <a:endParaRPr lang="en-US" sz="1500" dirty="0"/>
          </a:p>
        </p:txBody>
      </p:sp>
      <p:sp>
        <p:nvSpPr>
          <p:cNvPr id="4" name="Paragraph 1"/>
          <p:cNvSpPr/>
          <p:nvPr/>
        </p:nvSpPr>
        <p:spPr>
          <a:xfrm>
            <a:off x="309562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8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U-Net’s encoder-decoder structure with skip connections preserves spatial detail while enabling deep learning of physical relationships.</a:t>
            </a:r>
            <a:endParaRPr lang="en-US" sz="1308" dirty="0"/>
          </a:p>
        </p:txBody>
      </p:sp>
      <p:sp>
        <p:nvSpPr>
          <p:cNvPr id="5" name="Subtitle 2"/>
          <p:cNvSpPr/>
          <p:nvPr/>
        </p:nvSpPr>
        <p:spPr>
          <a:xfrm>
            <a:off x="3095625" y="22860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Skip Connections</a:t>
            </a:r>
            <a:endParaRPr lang="en-US" sz="1500" dirty="0"/>
          </a:p>
        </p:txBody>
      </p:sp>
      <p:sp>
        <p:nvSpPr>
          <p:cNvPr id="6" name="Paragraph 2"/>
          <p:cNvSpPr/>
          <p:nvPr/>
        </p:nvSpPr>
        <p:spPr>
          <a:xfrm>
            <a:off x="3095625" y="26670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8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Layers.concatenate passes high-frequency details directly across the network, avoiding blurry results common in deconvolution tasks.</a:t>
            </a:r>
            <a:endParaRPr lang="en-US" sz="1308" dirty="0"/>
          </a:p>
        </p:txBody>
      </p:sp>
      <p:sp>
        <p:nvSpPr>
          <p:cNvPr id="7" name="Subtitle 3"/>
          <p:cNvSpPr/>
          <p:nvPr/>
        </p:nvSpPr>
        <p:spPr>
          <a:xfrm>
            <a:off x="3095625" y="338137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Model Output</a:t>
            </a:r>
            <a:endParaRPr lang="en-US" sz="1500" dirty="0"/>
          </a:p>
        </p:txBody>
      </p:sp>
      <p:sp>
        <p:nvSpPr>
          <p:cNvPr id="8" name="Paragraph 3"/>
          <p:cNvSpPr/>
          <p:nvPr/>
        </p:nvSpPr>
        <p:spPr>
          <a:xfrm>
            <a:off x="3095625" y="376237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8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The U-Net outputs both amplitude and phase maps, reconstructing the object in physical space from holographic input.</a:t>
            </a:r>
            <a:endParaRPr lang="en-US" sz="1308" dirty="0"/>
          </a:p>
        </p:txBody>
      </p:sp>
      <p:sp>
        <p:nvSpPr>
          <p:cNvPr id="9" name="Circle 1"/>
          <p:cNvSpPr/>
          <p:nvPr/>
        </p:nvSpPr>
        <p:spPr>
          <a:xfrm>
            <a:off x="7143750" y="4524375"/>
            <a:ext cx="285750" cy="2857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" name="Circle 2"/>
          <p:cNvSpPr/>
          <p:nvPr/>
        </p:nvSpPr>
        <p:spPr>
          <a:xfrm>
            <a:off x="7477125" y="4524375"/>
            <a:ext cx="285750" cy="2857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Circle 3"/>
          <p:cNvSpPr/>
          <p:nvPr/>
        </p:nvSpPr>
        <p:spPr>
          <a:xfrm>
            <a:off x="7810500" y="4524375"/>
            <a:ext cx="285750" cy="2857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StaticPath"/>
          <p:cNvSpPr/>
          <p:nvPr/>
        </p:nvSpPr>
        <p:spPr>
          <a:xfrm>
            <a:off x="8572500" y="4033647"/>
            <a:ext cx="371475" cy="114300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3" name="StaticPath"/>
          <p:cNvSpPr/>
          <p:nvPr/>
        </p:nvSpPr>
        <p:spPr>
          <a:xfrm>
            <a:off x="8572500" y="3842290"/>
            <a:ext cx="368618" cy="368618"/>
          </a:xfrm>
          <a:prstGeom prst="ellipse">
            <a:avLst/>
          </a:prstGeom>
          <a:solidFill>
            <a:srgbClr val="787777"/>
          </a:solidFill>
          <a:ln/>
        </p:spPr>
      </p:sp>
      <p:sp>
        <p:nvSpPr>
          <p:cNvPr id="14" name="StaticPath"/>
          <p:cNvSpPr/>
          <p:nvPr/>
        </p:nvSpPr>
        <p:spPr>
          <a:xfrm rot="1993200">
            <a:off x="8740836" y="915788"/>
            <a:ext cx="1143000" cy="1143000"/>
          </a:xfrm>
          <a:prstGeom prst="rect">
            <a:avLst/>
          </a:prstGeom>
          <a:solidFill>
            <a:srgbClr val="787777"/>
          </a:solidFill>
          <a:ln/>
        </p:spPr>
      </p:sp>
      <p:sp>
        <p:nvSpPr>
          <p:cNvPr id="15" name="StaticPath"/>
          <p:cNvSpPr/>
          <p:nvPr/>
        </p:nvSpPr>
        <p:spPr>
          <a:xfrm rot="1638000">
            <a:off x="1102977" y="4700502"/>
            <a:ext cx="1143000" cy="11430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6" name="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125" y="1333500"/>
            <a:ext cx="2352675" cy="23526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095625" y="238125"/>
            <a:ext cx="5238750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73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The Secret Sauce: Custom SSIM-L1 Loss</a:t>
            </a:r>
            <a:endParaRPr lang="en-US" sz="1973" dirty="0"/>
          </a:p>
        </p:txBody>
      </p:sp>
      <p:sp>
        <p:nvSpPr>
          <p:cNvPr id="3" name="Subtitle 1"/>
          <p:cNvSpPr/>
          <p:nvPr/>
        </p:nvSpPr>
        <p:spPr>
          <a:xfrm>
            <a:off x="309562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89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Beyond MSE</a:t>
            </a:r>
            <a:endParaRPr lang="en-US" sz="1489" dirty="0"/>
          </a:p>
        </p:txBody>
      </p:sp>
      <p:sp>
        <p:nvSpPr>
          <p:cNvPr id="4" name="Paragraph 1"/>
          <p:cNvSpPr/>
          <p:nvPr/>
        </p:nvSpPr>
        <p:spPr>
          <a:xfrm>
            <a:off x="309562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8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Standard Mean Squared Error focuses on pixel intensity, often ignoring perceptual structure important for holography.</a:t>
            </a:r>
            <a:endParaRPr lang="en-US" sz="1358" dirty="0"/>
          </a:p>
        </p:txBody>
      </p:sp>
      <p:sp>
        <p:nvSpPr>
          <p:cNvPr id="5" name="Subtitle 2"/>
          <p:cNvSpPr/>
          <p:nvPr/>
        </p:nvSpPr>
        <p:spPr>
          <a:xfrm>
            <a:off x="3095625" y="22860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89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SSIM-L1 Hybrid Loss</a:t>
            </a:r>
            <a:endParaRPr lang="en-US" sz="1489" dirty="0"/>
          </a:p>
        </p:txBody>
      </p:sp>
      <p:sp>
        <p:nvSpPr>
          <p:cNvPr id="6" name="Paragraph 2"/>
          <p:cNvSpPr/>
          <p:nvPr/>
        </p:nvSpPr>
        <p:spPr>
          <a:xfrm>
            <a:off x="3095625" y="26670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8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The custom loss combines Structural Similarity (SSIM) with L1 loss, prioritizing accurate shape and contrast preservation.</a:t>
            </a:r>
            <a:endParaRPr lang="en-US" sz="1358" dirty="0"/>
          </a:p>
        </p:txBody>
      </p:sp>
      <p:sp>
        <p:nvSpPr>
          <p:cNvPr id="7" name="Subtitle 3"/>
          <p:cNvSpPr/>
          <p:nvPr/>
        </p:nvSpPr>
        <p:spPr>
          <a:xfrm>
            <a:off x="3095625" y="338137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89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Result</a:t>
            </a:r>
            <a:endParaRPr lang="en-US" sz="1489" dirty="0"/>
          </a:p>
        </p:txBody>
      </p:sp>
      <p:sp>
        <p:nvSpPr>
          <p:cNvPr id="8" name="Paragraph 3"/>
          <p:cNvSpPr/>
          <p:nvPr/>
        </p:nvSpPr>
        <p:spPr>
          <a:xfrm>
            <a:off x="3095625" y="376237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8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The hybrid loss produces reconstructions that are visually sharper and structurally faithful compared to pure MSE.</a:t>
            </a:r>
            <a:endParaRPr lang="en-US" sz="1358" dirty="0"/>
          </a:p>
        </p:txBody>
      </p:sp>
      <p:sp>
        <p:nvSpPr>
          <p:cNvPr id="9" name="Circle 1"/>
          <p:cNvSpPr/>
          <p:nvPr/>
        </p:nvSpPr>
        <p:spPr>
          <a:xfrm>
            <a:off x="7143750" y="4524375"/>
            <a:ext cx="285750" cy="2857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" name="Circle 2"/>
          <p:cNvSpPr/>
          <p:nvPr/>
        </p:nvSpPr>
        <p:spPr>
          <a:xfrm>
            <a:off x="7477125" y="4524375"/>
            <a:ext cx="285750" cy="2857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Circle 3"/>
          <p:cNvSpPr/>
          <p:nvPr/>
        </p:nvSpPr>
        <p:spPr>
          <a:xfrm>
            <a:off x="7810500" y="4524375"/>
            <a:ext cx="285750" cy="2857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StaticPath"/>
          <p:cNvSpPr/>
          <p:nvPr/>
        </p:nvSpPr>
        <p:spPr>
          <a:xfrm>
            <a:off x="8572500" y="4033647"/>
            <a:ext cx="371475" cy="114300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3" name="StaticPath"/>
          <p:cNvSpPr/>
          <p:nvPr/>
        </p:nvSpPr>
        <p:spPr>
          <a:xfrm>
            <a:off x="8572500" y="3842290"/>
            <a:ext cx="368618" cy="368618"/>
          </a:xfrm>
          <a:prstGeom prst="ellipse">
            <a:avLst/>
          </a:prstGeom>
          <a:solidFill>
            <a:srgbClr val="787777"/>
          </a:solidFill>
          <a:ln/>
        </p:spPr>
      </p:sp>
      <p:sp>
        <p:nvSpPr>
          <p:cNvPr id="14" name="StaticPath"/>
          <p:cNvSpPr/>
          <p:nvPr/>
        </p:nvSpPr>
        <p:spPr>
          <a:xfrm rot="1993200">
            <a:off x="8740836" y="915788"/>
            <a:ext cx="1143000" cy="1143000"/>
          </a:xfrm>
          <a:prstGeom prst="rect">
            <a:avLst/>
          </a:prstGeom>
          <a:solidFill>
            <a:srgbClr val="787777"/>
          </a:solidFill>
          <a:ln/>
        </p:spPr>
      </p:sp>
      <p:sp>
        <p:nvSpPr>
          <p:cNvPr id="15" name="StaticPath"/>
          <p:cNvSpPr/>
          <p:nvPr/>
        </p:nvSpPr>
        <p:spPr>
          <a:xfrm rot="1638000">
            <a:off x="1102977" y="4700502"/>
            <a:ext cx="1143000" cy="11430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6" name="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125" y="1333500"/>
            <a:ext cx="2352675" cy="23526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095625" y="238125"/>
            <a:ext cx="5238750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8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Live Demo Analysis: Validating Reconstruction</a:t>
            </a:r>
            <a:endParaRPr lang="en-US" sz="1789" dirty="0"/>
          </a:p>
        </p:txBody>
      </p:sp>
      <p:sp>
        <p:nvSpPr>
          <p:cNvPr id="3" name="Subtitle 1"/>
          <p:cNvSpPr/>
          <p:nvPr/>
        </p:nvSpPr>
        <p:spPr>
          <a:xfrm>
            <a:off x="309562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31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Inference Results</a:t>
            </a:r>
            <a:endParaRPr lang="en-US" sz="1431" dirty="0"/>
          </a:p>
        </p:txBody>
      </p:sp>
      <p:sp>
        <p:nvSpPr>
          <p:cNvPr id="4" name="Paragraph 1"/>
          <p:cNvSpPr/>
          <p:nvPr/>
        </p:nvSpPr>
        <p:spPr>
          <a:xfrm>
            <a:off x="309562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Running the final inference cell produces three rows of images—input, prediction, and ground truth.</a:t>
            </a:r>
            <a:endParaRPr lang="en-US" sz="1367" dirty="0"/>
          </a:p>
        </p:txBody>
      </p:sp>
      <p:sp>
        <p:nvSpPr>
          <p:cNvPr id="5" name="Subtitle 2"/>
          <p:cNvSpPr/>
          <p:nvPr/>
        </p:nvSpPr>
        <p:spPr>
          <a:xfrm>
            <a:off x="3095625" y="22860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31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Qualitative Evaluation</a:t>
            </a:r>
            <a:endParaRPr lang="en-US" sz="1431" dirty="0"/>
          </a:p>
        </p:txBody>
      </p:sp>
      <p:sp>
        <p:nvSpPr>
          <p:cNvPr id="6" name="Paragraph 2"/>
          <p:cNvSpPr/>
          <p:nvPr/>
        </p:nvSpPr>
        <p:spPr>
          <a:xfrm>
            <a:off x="3095625" y="26670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Focus on fine details such as the curvature of small objects or texture fidelity to assess SSIM’s impact.</a:t>
            </a:r>
            <a:endParaRPr lang="en-US" sz="1367" dirty="0"/>
          </a:p>
        </p:txBody>
      </p:sp>
      <p:sp>
        <p:nvSpPr>
          <p:cNvPr id="7" name="Subtitle 3"/>
          <p:cNvSpPr/>
          <p:nvPr/>
        </p:nvSpPr>
        <p:spPr>
          <a:xfrm>
            <a:off x="3095625" y="338137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31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Quantitative Metrics</a:t>
            </a:r>
            <a:endParaRPr lang="en-US" sz="1431" dirty="0"/>
          </a:p>
        </p:txBody>
      </p:sp>
      <p:sp>
        <p:nvSpPr>
          <p:cNvPr id="8" name="Paragraph 3"/>
          <p:cNvSpPr/>
          <p:nvPr/>
        </p:nvSpPr>
        <p:spPr>
          <a:xfrm>
            <a:off x="3095625" y="376237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SSIM and PSNR confirm improved reconstruction fidelity, validating the hybrid loss and model design.</a:t>
            </a:r>
            <a:endParaRPr lang="en-US" sz="1367" dirty="0"/>
          </a:p>
        </p:txBody>
      </p:sp>
      <p:sp>
        <p:nvSpPr>
          <p:cNvPr id="9" name="Circle 1"/>
          <p:cNvSpPr/>
          <p:nvPr/>
        </p:nvSpPr>
        <p:spPr>
          <a:xfrm>
            <a:off x="7143750" y="4524375"/>
            <a:ext cx="285750" cy="2857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" name="Circle 2"/>
          <p:cNvSpPr/>
          <p:nvPr/>
        </p:nvSpPr>
        <p:spPr>
          <a:xfrm>
            <a:off x="7477125" y="4524375"/>
            <a:ext cx="285750" cy="2857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Circle 3"/>
          <p:cNvSpPr/>
          <p:nvPr/>
        </p:nvSpPr>
        <p:spPr>
          <a:xfrm>
            <a:off x="7810500" y="4524375"/>
            <a:ext cx="285750" cy="2857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StaticPath"/>
          <p:cNvSpPr/>
          <p:nvPr/>
        </p:nvSpPr>
        <p:spPr>
          <a:xfrm>
            <a:off x="8572500" y="4033647"/>
            <a:ext cx="371475" cy="114300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3" name="StaticPath"/>
          <p:cNvSpPr/>
          <p:nvPr/>
        </p:nvSpPr>
        <p:spPr>
          <a:xfrm>
            <a:off x="8572500" y="3842290"/>
            <a:ext cx="368618" cy="368618"/>
          </a:xfrm>
          <a:prstGeom prst="ellipse">
            <a:avLst/>
          </a:prstGeom>
          <a:solidFill>
            <a:srgbClr val="787777"/>
          </a:solidFill>
          <a:ln/>
        </p:spPr>
      </p:sp>
      <p:sp>
        <p:nvSpPr>
          <p:cNvPr id="14" name="StaticPath"/>
          <p:cNvSpPr/>
          <p:nvPr/>
        </p:nvSpPr>
        <p:spPr>
          <a:xfrm rot="1993200">
            <a:off x="8740836" y="915788"/>
            <a:ext cx="1143000" cy="1143000"/>
          </a:xfrm>
          <a:prstGeom prst="rect">
            <a:avLst/>
          </a:prstGeom>
          <a:solidFill>
            <a:srgbClr val="787777"/>
          </a:solidFill>
          <a:ln/>
        </p:spPr>
      </p:sp>
      <p:sp>
        <p:nvSpPr>
          <p:cNvPr id="15" name="StaticPath"/>
          <p:cNvSpPr/>
          <p:nvPr/>
        </p:nvSpPr>
        <p:spPr>
          <a:xfrm rot="1638000">
            <a:off x="1102977" y="4700502"/>
            <a:ext cx="1143000" cy="11430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6" name="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125" y="1333500"/>
            <a:ext cx="2352675" cy="23526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0" y="1177957"/>
            <a:ext cx="5372100" cy="21002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taticPath"/>
          <p:cNvSpPr/>
          <p:nvPr/>
        </p:nvSpPr>
        <p:spPr>
          <a:xfrm>
            <a:off x="648653" y="408670"/>
            <a:ext cx="257175" cy="25717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" name="StaticPath"/>
          <p:cNvSpPr/>
          <p:nvPr/>
        </p:nvSpPr>
        <p:spPr>
          <a:xfrm>
            <a:off x="938022" y="408670"/>
            <a:ext cx="257175" cy="257175"/>
          </a:xfrm>
          <a:prstGeom prst="ellipse">
            <a:avLst/>
          </a:prstGeom>
          <a:solidFill>
            <a:srgbClr val="787777"/>
          </a:solidFill>
          <a:ln/>
        </p:spPr>
      </p:sp>
      <p:sp>
        <p:nvSpPr>
          <p:cNvPr id="5" name="StaticPath"/>
          <p:cNvSpPr/>
          <p:nvPr/>
        </p:nvSpPr>
        <p:spPr>
          <a:xfrm>
            <a:off x="1228725" y="408670"/>
            <a:ext cx="257175" cy="25717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Title"/>
          <p:cNvSpPr/>
          <p:nvPr/>
        </p:nvSpPr>
        <p:spPr>
          <a:xfrm>
            <a:off x="952500" y="1666875"/>
            <a:ext cx="200025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60" b="1" dirty="0">
                <a:solidFill>
                  <a:srgbClr val="FFFFFF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Conclusion: Scientific AI in Practice</a:t>
            </a:r>
            <a:endParaRPr lang="en-US" sz="1860" dirty="0"/>
          </a:p>
        </p:txBody>
      </p:sp>
      <p:sp>
        <p:nvSpPr>
          <p:cNvPr id="7" name="StaticPath"/>
          <p:cNvSpPr/>
          <p:nvPr/>
        </p:nvSpPr>
        <p:spPr>
          <a:xfrm>
            <a:off x="10081070" y="287274"/>
            <a:ext cx="500063" cy="50006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StaticPath"/>
          <p:cNvSpPr/>
          <p:nvPr/>
        </p:nvSpPr>
        <p:spPr>
          <a:xfrm>
            <a:off x="7702058" y="285845"/>
            <a:ext cx="2620328" cy="50292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9" name="StaticPath"/>
          <p:cNvSpPr/>
          <p:nvPr/>
        </p:nvSpPr>
        <p:spPr>
          <a:xfrm>
            <a:off x="7416117" y="287703"/>
            <a:ext cx="500063" cy="50006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" name="StaticPath"/>
          <p:cNvSpPr/>
          <p:nvPr/>
        </p:nvSpPr>
        <p:spPr>
          <a:xfrm rot="5397000">
            <a:off x="-533257" y="5178533"/>
            <a:ext cx="2620328" cy="50292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1" name="StaticPath"/>
          <p:cNvSpPr/>
          <p:nvPr/>
        </p:nvSpPr>
        <p:spPr>
          <a:xfrm rot="5397000">
            <a:off x="525284" y="3833935"/>
            <a:ext cx="500063" cy="50006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StaticPath"/>
          <p:cNvSpPr/>
          <p:nvPr/>
        </p:nvSpPr>
        <p:spPr>
          <a:xfrm>
            <a:off x="3314700" y="3429000"/>
            <a:ext cx="2286000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Question topic"/>
          <p:cNvSpPr/>
          <p:nvPr/>
        </p:nvSpPr>
        <p:spPr>
          <a:xfrm>
            <a:off x="3314700" y="3619500"/>
            <a:ext cx="2286000" cy="4686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62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Bridging Physics and Deep Learning</a:t>
            </a:r>
            <a:endParaRPr lang="en-US" sz="1062" dirty="0"/>
          </a:p>
        </p:txBody>
      </p:sp>
      <p:sp>
        <p:nvSpPr>
          <p:cNvPr id="14" name="Question"/>
          <p:cNvSpPr/>
          <p:nvPr/>
        </p:nvSpPr>
        <p:spPr>
          <a:xfrm>
            <a:off x="6191250" y="1381125"/>
            <a:ext cx="238125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2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What Does Holo-RAG Prove?</a:t>
            </a:r>
            <a:endParaRPr lang="en-US" sz="1252" dirty="0"/>
          </a:p>
        </p:txBody>
      </p:sp>
      <p:sp>
        <p:nvSpPr>
          <p:cNvPr id="15" name="Text"/>
          <p:cNvSpPr/>
          <p:nvPr/>
        </p:nvSpPr>
        <p:spPr>
          <a:xfrm>
            <a:off x="6286500" y="1952625"/>
            <a:ext cx="2190750" cy="1409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5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Holo-RAG demonstrates that AI models can tackle physics-grounded problems, reconstructing reality from incomplete data. This marks a step toward scientific computation powered by machine learning.</a:t>
            </a:r>
            <a:endParaRPr lang="en-US" sz="985" dirty="0"/>
          </a:p>
        </p:txBody>
      </p:sp>
      <p:sp>
        <p:nvSpPr>
          <p:cNvPr id="16" name="StaticPath"/>
          <p:cNvSpPr/>
          <p:nvPr/>
        </p:nvSpPr>
        <p:spPr>
          <a:xfrm>
            <a:off x="8843963" y="3512439"/>
            <a:ext cx="40005" cy="11430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2025-12-15T23:26:53Z</dcterms:created>
  <dcterms:modified xsi:type="dcterms:W3CDTF">2025-12-15T23:26:53Z</dcterms:modified>
</cp:coreProperties>
</file>